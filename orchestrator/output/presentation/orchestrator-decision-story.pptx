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46d5fa4c384329" /><Relationship Type="http://schemas.openxmlformats.org/officeDocument/2006/relationships/extended-properties" Target="/docProps/app.xml" Id="R35fdb37c55e44faf" /><Relationship Type="http://schemas.openxmlformats.org/officeDocument/2006/relationships/officeDocument" Target="/ppt/presentation.xml" Id="R0bcea199949b41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511a6bc7474ff4"/>
  </p:sldMasterIdLst>
  <p:notesMasterIdLst>
    <p:notesMasterId xmlns:r="http://schemas.openxmlformats.org/officeDocument/2006/relationships" r:id="R0c427809ae7f4a69"/>
  </p:notesMasterIdLst>
  <p:sldIdLst>
    <p:sldId xmlns:r="http://schemas.openxmlformats.org/officeDocument/2006/relationships" id="256" r:id="R30287fdaeb664e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45ca05c1d94b1e" /><Relationship Type="http://schemas.openxmlformats.org/officeDocument/2006/relationships/slideMaster" Target="/ppt/slideMasters/slideMaster1.xml" Id="R78511a6bc7474ff4" /><Relationship Type="http://schemas.openxmlformats.org/officeDocument/2006/relationships/notesMaster" Target="/ppt/notesMasters/notesMaster1.xml" Id="R0c427809ae7f4a69" /><Relationship Type="http://schemas.openxmlformats.org/officeDocument/2006/relationships/presProps" Target="/ppt/presProps.xml" Id="R10c07c021ec24774" /><Relationship Type="http://schemas.openxmlformats.org/officeDocument/2006/relationships/tableStyles" Target="/ppt/tableStyles.xml" Id="R3bbd6e87f3bd4409" /><Relationship Type="http://schemas.openxmlformats.org/officeDocument/2006/relationships/slide" Target="/ppt/slides/slide1.xml" Id="R30287fdaeb664e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e2039ff0bb48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76f9ef08e14df2" /><Relationship Type="http://schemas.openxmlformats.org/officeDocument/2006/relationships/notesMaster" Target="/ppt/notesMasters/notesMaster1.xml" Id="Re7670f17d55b47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timing constraint: orchestration is a control problem, not just a sorting problem.</a:t>
            </a:r>
          </a:p>
          <a:p xmlns:a="http://schemas.openxmlformats.org/drawingml/2006/main">
            <a:r>
              <a:t>Read the stack from observation to continuity. Each layer is replaceable and testable.</a:t>
            </a:r>
          </a:p>
          <a:p xmlns:a="http://schemas.openxmlformats.org/drawingml/2006/main">
            <a:r>
              <a:t>The highlighted admission layer is where urgency meets concurrency, GPU, and resource constraints.</a:t>
            </a:r>
          </a:p>
          <a:p xmlns:a="http://schemas.openxmlformats.org/drawingml/2006/main">
            <a:r>
              <a:t>Close on scope: the repository supplies the scheduling brain; lifecycle recovery and deployed AI systems remain separate research and engineering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User-supplied modular stack diagram in this conversation.</a:t>
            </a:r>
          </a:p>
          <a:p xmlns:a="http://schemas.openxmlformats.org/drawingml/2006/main">
            <a:r>
              <a:t>/Users/clementnunes/projects/sage-resilient-urgent-scheduler/README.md</a:t>
            </a:r>
          </a:p>
          <a:p xmlns:a="http://schemas.openxmlformats.org/drawingml/2006/main">
            <a:r>
              <a:t>/Users/clementnunes/projects/sage-resilient-urgent-scheduler/docs/architecture.md</a:t>
            </a:r>
          </a:p>
          <a:p xmlns:a="http://schemas.openxmlformats.org/drawingml/2006/main">
            <a:r>
              <a:t>/Users/clementnunes/projects/sage-resilient-urgent-scheduler/pkg/policy/engine.go</a:t>
            </a:r>
          </a:p>
          <a:p xmlns:a="http://schemas.openxmlformats.org/drawingml/2006/main">
            <a:r>
              <a:t>/Users/clementnunes/projects/sage-resilient-urgent-scheduler/integrations/sage/adapter/policy.go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325422af2449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b9a7933e684dfc" /><Relationship Type="http://schemas.openxmlformats.org/officeDocument/2006/relationships/slideLayout" Target="/ppt/slideLayouts/slideLayout1.xml" Id="R5907075c551240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07075c551240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4b41bb6f949c4" /><Relationship Type="http://schemas.openxmlformats.org/officeDocument/2006/relationships/notesSlide" Target="/ppt/notesSlides/notesSlide1.xml" Id="Rb4900771993d48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top-accent">
            <a:extLst xmlns:a="http://schemas.openxmlformats.org/drawingml/2006/main">
              <a:ext uri="{FF2B5EF4-FFF2-40B4-BE49-F238E27FC236}">
                <a16:creationId xmlns:a16="http://schemas.microsoft.com/office/drawing/2014/main" id="{F0E4B63C-D1E0-4349-99CC-5C0DFF35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58DFE01F-9C15-44CE-A6A4-0B5D26F5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3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3000"/>
              </a:lnSpc>
              <a:buNone/>
              <a:defRPr sz="3750" b="1">
                <a:solidFill>
                  <a:srgbClr val="20262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0262B"/>
                </a:solidFill>
                <a:latin typeface="Arial"/>
                <a:ea typeface="Arial"/>
                <a:cs typeface="Arial"/>
              </a:rPr>
              <a:t>The right decision, too late,</a:t>
            </a:r>
          </a:p>
          <a:p xmlns:a="http://schemas.openxmlformats.org/drawingml/2006/main">
            <a:pPr algn="ctr">
              <a:lnSpc>
                <a:spcPct val="93000"/>
              </a:lnSpc>
              <a:buNone/>
              <a:defRPr sz="3750" b="1">
                <a:solidFill>
                  <a:srgbClr val="20262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0262B"/>
                </a:solidFill>
                <a:latin typeface="Arial"/>
                <a:ea typeface="Arial"/>
                <a:cs typeface="Arial"/>
              </a:rPr>
              <a:t>is the wrong decision.</a:t>
            </a:r>
          </a:p>
        </p:txBody>
      </p:sp>
      <p:sp>
        <p:nvSpPr>
          <p:cNvPr id="3" name="difficulty-statement">
            <a:extLst xmlns:a="http://schemas.openxmlformats.org/drawingml/2006/main">
              <a:ext uri="{FF2B5EF4-FFF2-40B4-BE49-F238E27FC236}">
                <a16:creationId xmlns:a16="http://schemas.microsoft.com/office/drawing/2014/main" id="{8A82D6D9-E45C-434F-9E3C-FC030FD3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2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0">
                <a:solidFill>
                  <a:srgbClr val="6268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686D"/>
                </a:solidFill>
                <a:latin typeface="Arial"/>
                <a:ea typeface="Arial"/>
                <a:cs typeface="Arial"/>
              </a:rPr>
              <a:t>State changes while we observe it. Runtimes are uncertain. Resources are coupled. Deadlines keep shrinking.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E84DDB6-594B-48D3-B63D-38866169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7C3AC"/>
            </a:solidFill>
            <a:prstDash val="solid"/>
          </a:ln>
        </p:spPr>
      </p:sp>
      <p:sp>
        <p:nvSpPr>
          <p:cNvPr id="5" name="pipeline-heading">
            <a:extLst xmlns:a="http://schemas.openxmlformats.org/drawingml/2006/main">
              <a:ext uri="{FF2B5EF4-FFF2-40B4-BE49-F238E27FC236}">
                <a16:creationId xmlns:a16="http://schemas.microsoft.com/office/drawing/2014/main" id="{281B3740-8CD9-4E59-AF9D-532F652D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A74B1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74B1C"/>
                </a:solidFill>
                <a:latin typeface="Arial"/>
                <a:ea typeface="Arial"/>
                <a:cs typeface="Arial"/>
              </a:rPr>
              <a:t>THE DECISION PIPELINE</a:t>
            </a:r>
          </a:p>
        </p:txBody>
      </p:sp>
      <p:sp>
        <p:nvSpPr>
          <p:cNvPr id="6" name="module-1-snapshot-+-validate">
            <a:extLst xmlns:a="http://schemas.openxmlformats.org/drawingml/2006/main">
              <a:ext uri="{FF2B5EF4-FFF2-40B4-BE49-F238E27FC236}">
                <a16:creationId xmlns:a16="http://schemas.microsoft.com/office/drawing/2014/main" id="{7A30B4EA-6362-4480-B971-476DCB35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2197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BEFE7"/>
          </a:solidFill>
          <a:ln xmlns:a="http://schemas.openxmlformats.org/drawingml/2006/main" w="17145">
            <a:solidFill>
              <a:srgbClr val="D06A2E"/>
            </a:solidFill>
            <a:prstDash val="solid"/>
          </a:ln>
        </p:spPr>
      </p:sp>
      <p:sp>
        <p:nvSpPr>
          <p:cNvPr id="7" name="module-1-number">
            <a:extLst xmlns:a="http://schemas.openxmlformats.org/drawingml/2006/main">
              <a:ext uri="{FF2B5EF4-FFF2-40B4-BE49-F238E27FC236}">
                <a16:creationId xmlns:a16="http://schemas.microsoft.com/office/drawing/2014/main" id="{30934BA3-21E3-48C5-A601-AFCC5F68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06A2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74B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74B1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module-1-title">
            <a:extLst xmlns:a="http://schemas.openxmlformats.org/drawingml/2006/main">
              <a:ext uri="{FF2B5EF4-FFF2-40B4-BE49-F238E27FC236}">
                <a16:creationId xmlns:a16="http://schemas.microsoft.com/office/drawing/2014/main" id="{975DD9D9-EA32-4DD8-B7F6-DF42BB75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479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7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026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62B"/>
                </a:solidFill>
                <a:latin typeface="Arial"/>
                <a:ea typeface="Arial"/>
                <a:cs typeface="Arial"/>
              </a:rPr>
              <a:t>SNAPSHOT + VALIDATE</a:t>
            </a:r>
          </a:p>
        </p:txBody>
      </p:sp>
      <p:sp>
        <p:nvSpPr>
          <p:cNvPr id="9" name="module-1-descriptor">
            <a:extLst xmlns:a="http://schemas.openxmlformats.org/drawingml/2006/main">
              <a:ext uri="{FF2B5EF4-FFF2-40B4-BE49-F238E27FC236}">
                <a16:creationId xmlns:a16="http://schemas.microsoft.com/office/drawing/2014/main" id="{4F65A973-8116-4695-BEC0-0BCC57F2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479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0">
                <a:solidFill>
                  <a:srgbClr val="6268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86D"/>
                </a:solidFill>
                <a:latin typeface="Arial"/>
                <a:ea typeface="Arial"/>
                <a:cs typeface="Arial"/>
              </a:rPr>
              <a:t>ready + running</a:t>
            </a:r>
          </a:p>
        </p:txBody>
      </p:sp>
      <p:sp>
        <p:nvSpPr>
          <p:cNvPr id="10" name="module-2-rank">
            <a:extLst xmlns:a="http://schemas.openxmlformats.org/drawingml/2006/main">
              <a:ext uri="{FF2B5EF4-FFF2-40B4-BE49-F238E27FC236}">
                <a16:creationId xmlns:a16="http://schemas.microsoft.com/office/drawing/2014/main" id="{04BEFA9F-77AF-474C-A7B7-8CF1EEAD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52197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BEFE7"/>
          </a:solidFill>
          <a:ln xmlns:a="http://schemas.openxmlformats.org/drawingml/2006/main" w="17145">
            <a:solidFill>
              <a:srgbClr val="D06A2E"/>
            </a:solidFill>
            <a:prstDash val="solid"/>
          </a:ln>
        </p:spPr>
      </p:sp>
      <p:sp>
        <p:nvSpPr>
          <p:cNvPr id="11" name="module-2-number">
            <a:extLst xmlns:a="http://schemas.openxmlformats.org/drawingml/2006/main">
              <a:ext uri="{FF2B5EF4-FFF2-40B4-BE49-F238E27FC236}">
                <a16:creationId xmlns:a16="http://schemas.microsoft.com/office/drawing/2014/main" id="{494FA57B-B123-497F-947C-175507C2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623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06A2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74B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74B1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module-2-title">
            <a:extLst xmlns:a="http://schemas.openxmlformats.org/drawingml/2006/main">
              <a:ext uri="{FF2B5EF4-FFF2-40B4-BE49-F238E27FC236}">
                <a16:creationId xmlns:a16="http://schemas.microsoft.com/office/drawing/2014/main" id="{29CA693B-E9F0-4A66-B7ED-1C5B3254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147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026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62B"/>
                </a:solidFill>
                <a:latin typeface="Arial"/>
                <a:ea typeface="Arial"/>
                <a:cs typeface="Arial"/>
              </a:rPr>
              <a:t>RANK</a:t>
            </a:r>
          </a:p>
        </p:txBody>
      </p:sp>
      <p:sp>
        <p:nvSpPr>
          <p:cNvPr id="13" name="module-2-descriptor">
            <a:extLst xmlns:a="http://schemas.openxmlformats.org/drawingml/2006/main">
              <a:ext uri="{FF2B5EF4-FFF2-40B4-BE49-F238E27FC236}">
                <a16:creationId xmlns:a16="http://schemas.microsoft.com/office/drawing/2014/main" id="{F020147E-D645-48F9-9A40-9C661CB5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1470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0">
                <a:solidFill>
                  <a:srgbClr val="6268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86D"/>
                </a:solidFill>
                <a:latin typeface="Arial"/>
                <a:ea typeface="Arial"/>
                <a:cs typeface="Arial"/>
              </a:rPr>
              <a:t>urgency × reliability</a:t>
            </a:r>
          </a:p>
        </p:txBody>
      </p:sp>
      <p:sp>
        <p:nvSpPr>
          <p:cNvPr id="14" name="module-3-admit">
            <a:extLst xmlns:a="http://schemas.openxmlformats.org/drawingml/2006/main">
              <a:ext uri="{FF2B5EF4-FFF2-40B4-BE49-F238E27FC236}">
                <a16:creationId xmlns:a16="http://schemas.microsoft.com/office/drawing/2014/main" id="{E353085B-D522-4891-80DA-164BED14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2197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DED0"/>
          </a:solidFill>
          <a:ln xmlns:a="http://schemas.openxmlformats.org/drawingml/2006/main" w="23813">
            <a:solidFill>
              <a:srgbClr val="D06A2E"/>
            </a:solidFill>
            <a:prstDash val="solid"/>
          </a:ln>
        </p:spPr>
      </p:sp>
      <p:sp>
        <p:nvSpPr>
          <p:cNvPr id="15" name="module-3-number">
            <a:extLst xmlns:a="http://schemas.openxmlformats.org/drawingml/2006/main">
              <a:ext uri="{FF2B5EF4-FFF2-40B4-BE49-F238E27FC236}">
                <a16:creationId xmlns:a16="http://schemas.microsoft.com/office/drawing/2014/main" id="{DA89E34F-A3CD-4875-BCA1-B2B4AE4D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2E"/>
          </a:solidFill>
          <a:ln xmlns:a="http://schemas.openxmlformats.org/drawingml/2006/main" w="14288">
            <a:solidFill>
              <a:srgbClr val="D06A2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module-3-title">
            <a:extLst xmlns:a="http://schemas.openxmlformats.org/drawingml/2006/main">
              <a:ext uri="{FF2B5EF4-FFF2-40B4-BE49-F238E27FC236}">
                <a16:creationId xmlns:a16="http://schemas.microsoft.com/office/drawing/2014/main" id="{7D8C60E2-F590-416F-8362-967C334A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026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62B"/>
                </a:solidFill>
                <a:latin typeface="Arial"/>
                <a:ea typeface="Arial"/>
                <a:cs typeface="Arial"/>
              </a:rPr>
              <a:t>ADMIT</a:t>
            </a:r>
          </a:p>
        </p:txBody>
      </p:sp>
      <p:sp>
        <p:nvSpPr>
          <p:cNvPr id="17" name="module-3-descriptor">
            <a:extLst xmlns:a="http://schemas.openxmlformats.org/drawingml/2006/main">
              <a:ext uri="{FF2B5EF4-FFF2-40B4-BE49-F238E27FC236}">
                <a16:creationId xmlns:a16="http://schemas.microsoft.com/office/drawing/2014/main" id="{C2A0B573-50AA-4398-9179-535D9883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814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0">
                <a:solidFill>
                  <a:srgbClr val="6268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86D"/>
                </a:solidFill>
                <a:latin typeface="Arial"/>
                <a:ea typeface="Arial"/>
                <a:cs typeface="Arial"/>
              </a:rPr>
              <a:t>slots · GPU · resources</a:t>
            </a:r>
          </a:p>
        </p:txBody>
      </p:sp>
      <p:sp>
        <p:nvSpPr>
          <p:cNvPr id="18" name="module-4-explain">
            <a:extLst xmlns:a="http://schemas.openxmlformats.org/drawingml/2006/main">
              <a:ext uri="{FF2B5EF4-FFF2-40B4-BE49-F238E27FC236}">
                <a16:creationId xmlns:a16="http://schemas.microsoft.com/office/drawing/2014/main" id="{087A0416-5784-4B5F-87EB-71254F77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52197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BEFE7"/>
          </a:solidFill>
          <a:ln xmlns:a="http://schemas.openxmlformats.org/drawingml/2006/main" w="17145">
            <a:solidFill>
              <a:srgbClr val="D06A2E"/>
            </a:solidFill>
            <a:prstDash val="solid"/>
          </a:ln>
        </p:spPr>
      </p:sp>
      <p:sp>
        <p:nvSpPr>
          <p:cNvPr id="19" name="module-4-number">
            <a:extLst xmlns:a="http://schemas.openxmlformats.org/drawingml/2006/main">
              <a:ext uri="{FF2B5EF4-FFF2-40B4-BE49-F238E27FC236}">
                <a16:creationId xmlns:a16="http://schemas.microsoft.com/office/drawing/2014/main" id="{25AE3872-541F-4A2C-91D5-A199F4DD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958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06A2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74B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74B1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module-4-title">
            <a:extLst xmlns:a="http://schemas.openxmlformats.org/drawingml/2006/main">
              <a:ext uri="{FF2B5EF4-FFF2-40B4-BE49-F238E27FC236}">
                <a16:creationId xmlns:a16="http://schemas.microsoft.com/office/drawing/2014/main" id="{D24E5B36-7018-4AF5-A93E-87CF83EB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482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026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62B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1" name="module-4-descriptor">
            <a:extLst xmlns:a="http://schemas.openxmlformats.org/drawingml/2006/main">
              <a:ext uri="{FF2B5EF4-FFF2-40B4-BE49-F238E27FC236}">
                <a16:creationId xmlns:a16="http://schemas.microsoft.com/office/drawing/2014/main" id="{A6F48B05-BEEE-4E2F-A059-11939742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4820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0">
                <a:solidFill>
                  <a:srgbClr val="6268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86D"/>
                </a:solidFill>
                <a:latin typeface="Arial"/>
                <a:ea typeface="Arial"/>
                <a:cs typeface="Arial"/>
              </a:rPr>
              <a:t>select · defer · reject</a:t>
            </a:r>
          </a:p>
        </p:txBody>
      </p:sp>
      <p:sp>
        <p:nvSpPr>
          <p:cNvPr id="22" name="module-5-fail-open">
            <a:extLst xmlns:a="http://schemas.openxmlformats.org/drawingml/2006/main">
              <a:ext uri="{FF2B5EF4-FFF2-40B4-BE49-F238E27FC236}">
                <a16:creationId xmlns:a16="http://schemas.microsoft.com/office/drawing/2014/main" id="{4584CAB2-C8C7-48FC-864E-0E633135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52197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BEFE7"/>
          </a:solidFill>
          <a:ln xmlns:a="http://schemas.openxmlformats.org/drawingml/2006/main" w="17145">
            <a:solidFill>
              <a:srgbClr val="D06A2E"/>
            </a:solidFill>
            <a:prstDash val="solid"/>
          </a:ln>
        </p:spPr>
      </p:sp>
      <p:sp>
        <p:nvSpPr>
          <p:cNvPr id="23" name="module-5-number">
            <a:extLst xmlns:a="http://schemas.openxmlformats.org/drawingml/2006/main">
              <a:ext uri="{FF2B5EF4-FFF2-40B4-BE49-F238E27FC236}">
                <a16:creationId xmlns:a16="http://schemas.microsoft.com/office/drawing/2014/main" id="{53885FC5-7253-4FF1-8832-16965F70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625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06A2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74B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74B1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module-5-title">
            <a:extLst xmlns:a="http://schemas.openxmlformats.org/drawingml/2006/main">
              <a:ext uri="{FF2B5EF4-FFF2-40B4-BE49-F238E27FC236}">
                <a16:creationId xmlns:a16="http://schemas.microsoft.com/office/drawing/2014/main" id="{E94A98AC-92BB-46CE-A03D-6A930FB7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149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026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62B"/>
                </a:solidFill>
                <a:latin typeface="Arial"/>
                <a:ea typeface="Arial"/>
                <a:cs typeface="Arial"/>
              </a:rPr>
              <a:t>FAIL OPEN</a:t>
            </a:r>
          </a:p>
        </p:txBody>
      </p:sp>
      <p:sp>
        <p:nvSpPr>
          <p:cNvPr id="25" name="module-5-descriptor">
            <a:extLst xmlns:a="http://schemas.openxmlformats.org/drawingml/2006/main">
              <a:ext uri="{FF2B5EF4-FFF2-40B4-BE49-F238E27FC236}">
                <a16:creationId xmlns:a16="http://schemas.microsoft.com/office/drawing/2014/main" id="{E2938874-CC7B-424B-83F2-16FEF16B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149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0">
                <a:solidFill>
                  <a:srgbClr val="6268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86D"/>
                </a:solidFill>
                <a:latin typeface="Arial"/>
                <a:ea typeface="Arial"/>
                <a:cs typeface="Arial"/>
              </a:rPr>
              <a:t>bounded FIFO fallback</a:t>
            </a:r>
          </a:p>
        </p:txBody>
      </p:sp>
      <p:sp>
        <p:nvSpPr>
          <p:cNvPr id="26" name="scope-divider">
            <a:extLst xmlns:a="http://schemas.openxmlformats.org/drawingml/2006/main">
              <a:ext uri="{FF2B5EF4-FFF2-40B4-BE49-F238E27FC236}">
                <a16:creationId xmlns:a16="http://schemas.microsoft.com/office/drawing/2014/main" id="{CF86BD60-E97F-4422-BC31-6AF06CB0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7C3AC"/>
            </a:solidFill>
            <a:prstDash val="solid"/>
          </a:ln>
        </p:spPr>
      </p:sp>
      <p:sp>
        <p:nvSpPr>
          <p:cNvPr id="27" name="inside-heading">
            <a:extLst xmlns:a="http://schemas.openxmlformats.org/drawingml/2006/main">
              <a:ext uri="{FF2B5EF4-FFF2-40B4-BE49-F238E27FC236}">
                <a16:creationId xmlns:a16="http://schemas.microsoft.com/office/drawing/2014/main" id="{27C846DB-3A89-4F53-B889-7ED9D614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A74B1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74B1C"/>
                </a:solidFill>
                <a:latin typeface="Arial"/>
                <a:ea typeface="Arial"/>
                <a:cs typeface="Arial"/>
              </a:rPr>
              <a:t>INSIDE THIS REPOSITORY</a:t>
            </a:r>
          </a:p>
        </p:txBody>
      </p:sp>
      <p:sp>
        <p:nvSpPr>
          <p:cNvPr id="28" name="inside-policy-dot">
            <a:extLst xmlns:a="http://schemas.openxmlformats.org/drawingml/2006/main">
              <a:ext uri="{FF2B5EF4-FFF2-40B4-BE49-F238E27FC236}">
                <a16:creationId xmlns:a16="http://schemas.microsoft.com/office/drawing/2014/main" id="{579518FC-9534-40DB-B8B5-3C40CFE5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inside-policy-text">
            <a:extLst xmlns:a="http://schemas.openxmlformats.org/drawingml/2006/main">
              <a:ext uri="{FF2B5EF4-FFF2-40B4-BE49-F238E27FC236}">
                <a16:creationId xmlns:a16="http://schemas.microsoft.com/office/drawing/2014/main" id="{CF9839F1-4BAB-4964-83AB-230254B6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098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2026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62B"/>
                </a:solidFill>
                <a:latin typeface="Arial"/>
                <a:ea typeface="Arial"/>
                <a:cs typeface="Arial"/>
              </a:rPr>
              <a:t>Deterministic ranking and admission</a:t>
            </a:r>
          </a:p>
        </p:txBody>
      </p:sp>
      <p:sp>
        <p:nvSpPr>
          <p:cNvPr id="30" name="inside-sage-dot">
            <a:extLst xmlns:a="http://schemas.openxmlformats.org/drawingml/2006/main">
              <a:ext uri="{FF2B5EF4-FFF2-40B4-BE49-F238E27FC236}">
                <a16:creationId xmlns:a16="http://schemas.microsoft.com/office/drawing/2014/main" id="{28FEA6D1-3DA6-4166-8E76-DC72BB4E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57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inside-sage-text">
            <a:extLst xmlns:a="http://schemas.openxmlformats.org/drawingml/2006/main">
              <a:ext uri="{FF2B5EF4-FFF2-40B4-BE49-F238E27FC236}">
                <a16:creationId xmlns:a16="http://schemas.microsoft.com/office/drawing/2014/main" id="{AD7CC4E2-A9CA-42CA-A8B2-DC9B0141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813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2026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62B"/>
                </a:solidFill>
                <a:latin typeface="Arial"/>
                <a:ea typeface="Arial"/>
                <a:cs typeface="Arial"/>
              </a:rPr>
              <a:t>SAGE/Waggle queue adapter</a:t>
            </a:r>
          </a:p>
        </p:txBody>
      </p:sp>
      <p:sp>
        <p:nvSpPr>
          <p:cNvPr id="32" name="inside-explain-dot">
            <a:extLst xmlns:a="http://schemas.openxmlformats.org/drawingml/2006/main">
              <a:ext uri="{FF2B5EF4-FFF2-40B4-BE49-F238E27FC236}">
                <a16:creationId xmlns:a16="http://schemas.microsoft.com/office/drawing/2014/main" id="{BA65BF96-08AD-4E23-B6C1-9C648960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inside-explain-text">
            <a:extLst xmlns:a="http://schemas.openxmlformats.org/drawingml/2006/main">
              <a:ext uri="{FF2B5EF4-FFF2-40B4-BE49-F238E27FC236}">
                <a16:creationId xmlns:a16="http://schemas.microsoft.com/office/drawing/2014/main" id="{896ECEDA-69DF-4FA1-82FC-65A7206A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528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2026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62B"/>
                </a:solidFill>
                <a:latin typeface="Arial"/>
                <a:ea typeface="Arial"/>
                <a:cs typeface="Arial"/>
              </a:rPr>
              <a:t>Explained decision for every candidate</a:t>
            </a:r>
          </a:p>
        </p:txBody>
      </p:sp>
      <p:sp>
        <p:nvSpPr>
          <p:cNvPr id="34" name="inside-fallback-dot">
            <a:extLst xmlns:a="http://schemas.openxmlformats.org/drawingml/2006/main">
              <a:ext uri="{FF2B5EF4-FFF2-40B4-BE49-F238E27FC236}">
                <a16:creationId xmlns:a16="http://schemas.microsoft.com/office/drawing/2014/main" id="{E3378253-E362-48C8-89C3-93DE441F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00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inside-fallback-text">
            <a:extLst xmlns:a="http://schemas.openxmlformats.org/drawingml/2006/main">
              <a:ext uri="{FF2B5EF4-FFF2-40B4-BE49-F238E27FC236}">
                <a16:creationId xmlns:a16="http://schemas.microsoft.com/office/drawing/2014/main" id="{A2F44B0D-6D20-4EF9-82CD-EAC42108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2427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2026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62B"/>
                </a:solidFill>
                <a:latin typeface="Arial"/>
                <a:ea typeface="Arial"/>
                <a:cs typeface="Arial"/>
              </a:rPr>
              <a:t>Conservative continuity on engine failure</a:t>
            </a:r>
          </a:p>
        </p:txBody>
      </p:sp>
      <p:sp>
        <p:nvSpPr>
          <p:cNvPr id="36" name="outside-scope-box">
            <a:extLst xmlns:a="http://schemas.openxmlformats.org/drawingml/2006/main">
              <a:ext uri="{FF2B5EF4-FFF2-40B4-BE49-F238E27FC236}">
                <a16:creationId xmlns:a16="http://schemas.microsoft.com/office/drawing/2014/main" id="{A74F9299-C5DD-4C7C-BA9B-1EF1DECD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5010150" cy="158115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1F0ED"/>
          </a:solidFill>
          <a:ln xmlns:a="http://schemas.openxmlformats.org/drawingml/2006/main" w="11430">
            <a:solidFill>
              <a:srgbClr val="D2D0CC"/>
            </a:solidFill>
            <a:prstDash val="solid"/>
          </a:ln>
        </p:spPr>
      </p:sp>
      <p:sp>
        <p:nvSpPr>
          <p:cNvPr id="37" name="outside-heading">
            <a:extLst xmlns:a="http://schemas.openxmlformats.org/drawingml/2006/main">
              <a:ext uri="{FF2B5EF4-FFF2-40B4-BE49-F238E27FC236}">
                <a16:creationId xmlns:a16="http://schemas.microsoft.com/office/drawing/2014/main" id="{0E9B97AD-6D99-4870-ACC5-6A7E698C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38650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62686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2686D"/>
                </a:solidFill>
                <a:latin typeface="Arial"/>
                <a:ea typeface="Arial"/>
                <a:cs typeface="Arial"/>
              </a:rPr>
              <a:t>OUTSIDE THIS REPOSITORY</a:t>
            </a:r>
          </a:p>
        </p:txBody>
      </p:sp>
      <p:sp>
        <p:nvSpPr>
          <p:cNvPr id="38" name="outside-prediction-dot">
            <a:extLst xmlns:a="http://schemas.openxmlformats.org/drawingml/2006/main">
              <a:ext uri="{FF2B5EF4-FFF2-40B4-BE49-F238E27FC236}">
                <a16:creationId xmlns:a16="http://schemas.microsoft.com/office/drawing/2014/main" id="{475FAC68-D1EB-408B-B1C3-850D7A9D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05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68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outside-prediction-text">
            <a:extLst xmlns:a="http://schemas.openxmlformats.org/drawingml/2006/main">
              <a:ext uri="{FF2B5EF4-FFF2-40B4-BE49-F238E27FC236}">
                <a16:creationId xmlns:a16="http://schemas.microsoft.com/office/drawing/2014/main" id="{04A6BEF5-866E-4296-B791-C4BA84A1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2917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268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86D"/>
                </a:solidFill>
                <a:latin typeface="Arial"/>
                <a:ea typeface="Arial"/>
                <a:cs typeface="Arial"/>
              </a:rPr>
              <a:t>Learned prediction + live telemetry</a:t>
            </a:r>
          </a:p>
        </p:txBody>
      </p:sp>
      <p:sp>
        <p:nvSpPr>
          <p:cNvPr id="40" name="outside-recovery-dot">
            <a:extLst xmlns:a="http://schemas.openxmlformats.org/drawingml/2006/main">
              <a:ext uri="{FF2B5EF4-FFF2-40B4-BE49-F238E27FC236}">
                <a16:creationId xmlns:a16="http://schemas.microsoft.com/office/drawing/2014/main" id="{B6C7B714-519B-46FE-BCD7-8965BC98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29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68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outside-recovery-text">
            <a:extLst xmlns:a="http://schemas.openxmlformats.org/drawingml/2006/main">
              <a:ext uri="{FF2B5EF4-FFF2-40B4-BE49-F238E27FC236}">
                <a16:creationId xmlns:a16="http://schemas.microsoft.com/office/drawing/2014/main" id="{9ACA8FDB-76F2-4A0C-9442-0BFC08D3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1530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268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86D"/>
                </a:solidFill>
                <a:latin typeface="Arial"/>
                <a:ea typeface="Arial"/>
                <a:cs typeface="Arial"/>
              </a:rPr>
              <a:t>Preemption · retries · checkpointing</a:t>
            </a:r>
          </a:p>
        </p:txBody>
      </p:sp>
      <p:sp>
        <p:nvSpPr>
          <p:cNvPr id="42" name="outside-deployment-dot">
            <a:extLst xmlns:a="http://schemas.openxmlformats.org/drawingml/2006/main">
              <a:ext uri="{FF2B5EF4-FFF2-40B4-BE49-F238E27FC236}">
                <a16:creationId xmlns:a16="http://schemas.microsoft.com/office/drawing/2014/main" id="{B6932A86-BE96-4188-9DDD-28EC392B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53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68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outside-deployment-text">
            <a:extLst xmlns:a="http://schemas.openxmlformats.org/drawingml/2006/main">
              <a:ext uri="{FF2B5EF4-FFF2-40B4-BE49-F238E27FC236}">
                <a16:creationId xmlns:a16="http://schemas.microsoft.com/office/drawing/2014/main" id="{A2DE9D7A-098C-474D-9F16-3346F2F2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47687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268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86D"/>
                </a:solidFill>
                <a:latin typeface="Arial"/>
                <a:ea typeface="Arial"/>
                <a:cs typeface="Arial"/>
              </a:rPr>
              <a:t>Concrete AI · camera · MQTT · deployment</a:t>
            </a:r>
          </a:p>
        </p:txBody>
      </p:sp>
      <p:sp>
        <p:nvSpPr>
          <p:cNvPr id="44" name="takeaway-footer">
            <a:extLst xmlns:a="http://schemas.openxmlformats.org/drawingml/2006/main">
              <a:ext uri="{FF2B5EF4-FFF2-40B4-BE49-F238E27FC236}">
                <a16:creationId xmlns:a16="http://schemas.microsoft.com/office/drawing/2014/main" id="{C8E23913-AFC8-45F2-BEDD-A5BA3480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akeaway">
            <a:extLst xmlns:a="http://schemas.openxmlformats.org/drawingml/2006/main">
              <a:ext uri="{FF2B5EF4-FFF2-40B4-BE49-F238E27FC236}">
                <a16:creationId xmlns:a16="http://schemas.microsoft.com/office/drawing/2014/main" id="{30A431CE-FF4D-4B56-9A2F-B33EAFE1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817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project is the scheduling brain — not the full autonomous system.</a:t>
            </a:r>
          </a:p>
        </p:txBody>
      </p:sp>
    </p:spTree>
    <p:extLst>
      <p:ext uri="{BB962C8B-B14F-4D97-AF65-F5344CB8AC3E}">
        <p14:creationId xmlns:p14="http://schemas.microsoft.com/office/powerpoint/2010/main" val="12207896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2026-07-28T14:30:24.9200000Z</dcterms:created>
  <dcterms:modified xsi:type="dcterms:W3CDTF">2026-07-28T14:30:24.9200000Z</dcterms:modified>
</coreProperties>
</file>